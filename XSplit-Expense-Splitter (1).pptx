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Dela Gothic One" panose="020B0604020202020204" charset="-128"/>
      <p:regular r:id="rId11"/>
    </p:embeddedFont>
    <p:embeddedFont>
      <p:font typeface="DM Sans" pitchFamily="2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9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1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552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409462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XSplit — Expense Splitter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3159800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sleek, full-featured personal finance and group expense management app. Track daily spending, set budgets, and split bills effortlessly — all in one place.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244709" y="452485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Team: INNOVEX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44709" y="5206008"/>
            <a:ext cx="7627382" cy="1614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Dishanth D Poojary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Meghana Shetty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Pragathi 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Prajwal KA</a:t>
            </a:r>
            <a:endParaRPr lang="en-US" sz="17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04C90C-7D2B-BCD9-4133-284C31B85E93}"/>
              </a:ext>
            </a:extLst>
          </p:cNvPr>
          <p:cNvSpPr/>
          <p:nvPr/>
        </p:nvSpPr>
        <p:spPr>
          <a:xfrm>
            <a:off x="12781280" y="7528560"/>
            <a:ext cx="1808480" cy="792480"/>
          </a:xfrm>
          <a:prstGeom prst="rect">
            <a:avLst/>
          </a:prstGeom>
          <a:solidFill>
            <a:srgbClr val="0A0909"/>
          </a:solidFill>
          <a:ln>
            <a:solidFill>
              <a:srgbClr val="0A09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213" y="497919"/>
            <a:ext cx="936308" cy="320278"/>
          </a:xfrm>
          <a:prstGeom prst="roundRect">
            <a:avLst>
              <a:gd name="adj" fmla="val 18950"/>
            </a:avLst>
          </a:prstGeom>
          <a:solidFill>
            <a:srgbClr val="460707"/>
          </a:solidFill>
          <a:ln/>
        </p:spPr>
      </p:sp>
      <p:sp>
        <p:nvSpPr>
          <p:cNvPr id="3" name="Text 1"/>
          <p:cNvSpPr/>
          <p:nvPr/>
        </p:nvSpPr>
        <p:spPr>
          <a:xfrm>
            <a:off x="863560" y="552093"/>
            <a:ext cx="719614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5213" y="878324"/>
            <a:ext cx="9080659" cy="59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Your Financial Command Center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13" y="1867733"/>
            <a:ext cx="8373666" cy="44661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77030" y="3487103"/>
            <a:ext cx="2376726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Dashboard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577030" y="3934658"/>
            <a:ext cx="4305538" cy="794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 a bird's-eye view of your finances the moment you log in. The dashboard surfaces what matters most — instantly.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55213" y="6672501"/>
            <a:ext cx="4272915" cy="1059180"/>
          </a:xfrm>
          <a:prstGeom prst="roundRect">
            <a:avLst>
              <a:gd name="adj" fmla="val 10360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2353" y="6672501"/>
            <a:ext cx="91440" cy="1059180"/>
          </a:xfrm>
          <a:prstGeom prst="roundRect">
            <a:avLst>
              <a:gd name="adj" fmla="val 82969"/>
            </a:avLst>
          </a:prstGeom>
          <a:solidFill>
            <a:srgbClr val="C91313"/>
          </a:solidFill>
          <a:ln/>
        </p:spPr>
      </p:sp>
      <p:sp>
        <p:nvSpPr>
          <p:cNvPr id="10" name="Text 7"/>
          <p:cNvSpPr/>
          <p:nvPr/>
        </p:nvSpPr>
        <p:spPr>
          <a:xfrm>
            <a:off x="1027271" y="6875978"/>
            <a:ext cx="2376726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Total Expenses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027271" y="7263289"/>
            <a:ext cx="3797379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See your monthly spend at a glance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178623" y="6672501"/>
            <a:ext cx="4272915" cy="1059180"/>
          </a:xfrm>
          <a:prstGeom prst="roundRect">
            <a:avLst>
              <a:gd name="adj" fmla="val 10360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55763" y="6672501"/>
            <a:ext cx="91440" cy="1059180"/>
          </a:xfrm>
          <a:prstGeom prst="roundRect">
            <a:avLst>
              <a:gd name="adj" fmla="val 82969"/>
            </a:avLst>
          </a:prstGeom>
          <a:solidFill>
            <a:srgbClr val="C91313"/>
          </a:solidFill>
          <a:ln/>
        </p:spPr>
      </p:sp>
      <p:sp>
        <p:nvSpPr>
          <p:cNvPr id="14" name="Text 11"/>
          <p:cNvSpPr/>
          <p:nvPr/>
        </p:nvSpPr>
        <p:spPr>
          <a:xfrm>
            <a:off x="5450681" y="6875978"/>
            <a:ext cx="2376726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Monthly Budget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5450681" y="7263289"/>
            <a:ext cx="3797379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 limits and stay on target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602033" y="6672501"/>
            <a:ext cx="4273034" cy="1059180"/>
          </a:xfrm>
          <a:prstGeom prst="roundRect">
            <a:avLst>
              <a:gd name="adj" fmla="val 10360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579173" y="6672501"/>
            <a:ext cx="91440" cy="1059180"/>
          </a:xfrm>
          <a:prstGeom prst="roundRect">
            <a:avLst>
              <a:gd name="adj" fmla="val 82969"/>
            </a:avLst>
          </a:prstGeom>
          <a:solidFill>
            <a:srgbClr val="C91313"/>
          </a:solidFill>
          <a:ln/>
        </p:spPr>
      </p:sp>
      <p:sp>
        <p:nvSpPr>
          <p:cNvPr id="18" name="Text 15"/>
          <p:cNvSpPr/>
          <p:nvPr/>
        </p:nvSpPr>
        <p:spPr>
          <a:xfrm>
            <a:off x="9874091" y="6875978"/>
            <a:ext cx="3099435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You Owe / Owed to You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9874091" y="7263289"/>
            <a:ext cx="3797498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Real-time group settlement status</a:t>
            </a:r>
            <a:endParaRPr lang="en-US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4841DA-5D63-0973-9E59-987AC8B8E14F}"/>
              </a:ext>
            </a:extLst>
          </p:cNvPr>
          <p:cNvSpPr/>
          <p:nvPr/>
        </p:nvSpPr>
        <p:spPr>
          <a:xfrm>
            <a:off x="12852400" y="7763827"/>
            <a:ext cx="1737360" cy="465774"/>
          </a:xfrm>
          <a:prstGeom prst="rect">
            <a:avLst/>
          </a:prstGeom>
          <a:solidFill>
            <a:srgbClr val="0A0909"/>
          </a:solidFill>
          <a:ln>
            <a:solidFill>
              <a:srgbClr val="0A09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877" y="800100"/>
            <a:ext cx="929521" cy="388144"/>
          </a:xfrm>
          <a:prstGeom prst="roundRect">
            <a:avLst>
              <a:gd name="adj" fmla="val 18102"/>
            </a:avLst>
          </a:prstGeom>
          <a:solidFill>
            <a:srgbClr val="460707"/>
          </a:solidFill>
          <a:ln/>
        </p:spPr>
      </p:sp>
      <p:sp>
        <p:nvSpPr>
          <p:cNvPr id="3" name="Text 1"/>
          <p:cNvSpPr/>
          <p:nvPr/>
        </p:nvSpPr>
        <p:spPr>
          <a:xfrm>
            <a:off x="857250" y="862727"/>
            <a:ext cx="678775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877" y="1268968"/>
            <a:ext cx="8964216" cy="68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Personal Expense Tracking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731877" y="2461260"/>
            <a:ext cx="4276725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Log Every Rupee, Effortlessly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731877" y="3350776"/>
            <a:ext cx="4276725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expenses in seconds with a title, amount, category, and date. XSplit keeps your spending history organized and always accessible.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877" y="4846796"/>
            <a:ext cx="4276725" cy="251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Quick-add form with category selector</a:t>
            </a:r>
            <a:endParaRPr lang="en-US" sz="16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 and monitor your monthly budget cap</a:t>
            </a:r>
            <a:endParaRPr lang="en-US" sz="16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 cues when approaching spending limits</a:t>
            </a:r>
            <a:endParaRPr lang="en-US" sz="16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Instant current budget display after entry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286" y="2637234"/>
            <a:ext cx="8379738" cy="441436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D39CDA0-3C0B-AFFA-9962-DBB40AA20652}"/>
              </a:ext>
            </a:extLst>
          </p:cNvPr>
          <p:cNvSpPr/>
          <p:nvPr/>
        </p:nvSpPr>
        <p:spPr>
          <a:xfrm>
            <a:off x="12705080" y="7358896"/>
            <a:ext cx="1808480" cy="792480"/>
          </a:xfrm>
          <a:prstGeom prst="rect">
            <a:avLst/>
          </a:prstGeom>
          <a:solidFill>
            <a:srgbClr val="0A0909"/>
          </a:solidFill>
          <a:ln>
            <a:solidFill>
              <a:srgbClr val="0A09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309" y="788432"/>
            <a:ext cx="963216" cy="407075"/>
          </a:xfrm>
          <a:prstGeom prst="roundRect">
            <a:avLst>
              <a:gd name="adj" fmla="val 17883"/>
            </a:avLst>
          </a:prstGeom>
          <a:solidFill>
            <a:srgbClr val="460707"/>
          </a:solidFill>
          <a:ln/>
        </p:spPr>
      </p:sp>
      <p:sp>
        <p:nvSpPr>
          <p:cNvPr id="3" name="Text 1"/>
          <p:cNvSpPr/>
          <p:nvPr/>
        </p:nvSpPr>
        <p:spPr>
          <a:xfrm>
            <a:off x="888206" y="853321"/>
            <a:ext cx="703421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58309" y="1282065"/>
            <a:ext cx="8154353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Group Expense Splitting</a:t>
            </a:r>
            <a:endParaRPr lang="en-US" sz="4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563416"/>
            <a:ext cx="8338899" cy="46339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33466" y="2888337"/>
            <a:ext cx="4246126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Split Bills with Friends &amp; Family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633466" y="3817382"/>
            <a:ext cx="4246126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a group in seconds — name it, set a member cap, and invite others via link or email. Perfect for trips, apartments, and shared meals.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33466" y="5399127"/>
            <a:ext cx="4246126" cy="1614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Groups support 2–4 members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Automatic invite slot management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Leader-assigned group ownership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Payable/receivable status at a glance</a:t>
            </a:r>
            <a:endParaRPr lang="en-US" sz="17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D57AEC-E855-0187-69C0-0F79EE6D2F6A}"/>
              </a:ext>
            </a:extLst>
          </p:cNvPr>
          <p:cNvSpPr/>
          <p:nvPr/>
        </p:nvSpPr>
        <p:spPr>
          <a:xfrm>
            <a:off x="12781280" y="7319010"/>
            <a:ext cx="1808480" cy="792480"/>
          </a:xfrm>
          <a:prstGeom prst="rect">
            <a:avLst/>
          </a:prstGeom>
          <a:solidFill>
            <a:srgbClr val="0A0909"/>
          </a:solidFill>
          <a:ln>
            <a:solidFill>
              <a:srgbClr val="0A09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454467"/>
            <a:ext cx="594764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How XSplit Works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709" y="2492097"/>
            <a:ext cx="7627382" cy="33457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56235" y="4713981"/>
            <a:ext cx="1152773" cy="43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Set Your Budget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8556235" y="5207289"/>
            <a:ext cx="1152773" cy="33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Define spending limits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2218323" y="4879105"/>
            <a:ext cx="1152773" cy="43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Split with Groups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2218323" y="5372413"/>
            <a:ext cx="1152773" cy="165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 bills easily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765555" y="2792806"/>
            <a:ext cx="1152773" cy="43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Create Account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765555" y="3286115"/>
            <a:ext cx="1152773" cy="165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 up in seconds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0412964" y="2792806"/>
            <a:ext cx="1152774" cy="43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Add Expenses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0412964" y="3286115"/>
            <a:ext cx="1152774" cy="165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 costs quickly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244709" y="6081593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onboarding to settlement, XSplit keeps every step intuitive — so you focus on life, not ledgers.</a:t>
            </a:r>
            <a:endParaRPr lang="en-US" sz="17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BE1005-22EE-A665-03F9-73CB3E2BE5B3}"/>
              </a:ext>
            </a:extLst>
          </p:cNvPr>
          <p:cNvSpPr/>
          <p:nvPr/>
        </p:nvSpPr>
        <p:spPr>
          <a:xfrm>
            <a:off x="12781280" y="7345680"/>
            <a:ext cx="1808480" cy="792480"/>
          </a:xfrm>
          <a:prstGeom prst="rect">
            <a:avLst/>
          </a:prstGeom>
          <a:solidFill>
            <a:srgbClr val="0A0909"/>
          </a:solidFill>
          <a:ln>
            <a:solidFill>
              <a:srgbClr val="0A09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309" y="892612"/>
            <a:ext cx="1568768" cy="407075"/>
          </a:xfrm>
          <a:prstGeom prst="roundRect">
            <a:avLst>
              <a:gd name="adj" fmla="val 17883"/>
            </a:avLst>
          </a:prstGeom>
          <a:solidFill>
            <a:srgbClr val="460707"/>
          </a:solidFill>
          <a:ln/>
        </p:spPr>
      </p:sp>
      <p:sp>
        <p:nvSpPr>
          <p:cNvPr id="3" name="Text 1"/>
          <p:cNvSpPr/>
          <p:nvPr/>
        </p:nvSpPr>
        <p:spPr>
          <a:xfrm>
            <a:off x="888206" y="957501"/>
            <a:ext cx="1308973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FEATURES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58309" y="1386245"/>
            <a:ext cx="131137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Everything You Need, Nothing You Don't</a:t>
            </a:r>
            <a:endParaRPr lang="en-US" sz="4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309" y="3136583"/>
            <a:ext cx="433268" cy="4332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8309" y="3840599"/>
            <a:ext cx="349889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Budget Management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58309" y="4326731"/>
            <a:ext cx="642151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 monthly limits and get real-time feedback on your remaining balance.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0574" y="3136583"/>
            <a:ext cx="433268" cy="4332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50574" y="3840599"/>
            <a:ext cx="288833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Expense Logging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50574" y="4326731"/>
            <a:ext cx="64215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Categorize and record every transaction with minimal friction.</a:t>
            </a:r>
            <a:endParaRPr lang="en-US" sz="1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8309" y="5453420"/>
            <a:ext cx="433268" cy="4332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58309" y="615743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Group Splitting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758309" y="6643568"/>
            <a:ext cx="642151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groups, add shared expenses, and track who owes what automatically.</a:t>
            </a:r>
            <a:endParaRPr lang="en-US" sz="17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0574" y="5453420"/>
            <a:ext cx="433268" cy="4332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50574" y="6157436"/>
            <a:ext cx="317337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Financial Overview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7450574" y="6643568"/>
            <a:ext cx="642151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unified dashboard to monitor personal and group finances side by side.</a:t>
            </a:r>
            <a:endParaRPr lang="en-US" sz="17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F6C2E8-18A6-A176-A64C-D2AD0D1C86C2}"/>
              </a:ext>
            </a:extLst>
          </p:cNvPr>
          <p:cNvSpPr/>
          <p:nvPr/>
        </p:nvSpPr>
        <p:spPr>
          <a:xfrm>
            <a:off x="12695555" y="7336988"/>
            <a:ext cx="1808480" cy="792480"/>
          </a:xfrm>
          <a:prstGeom prst="rect">
            <a:avLst/>
          </a:prstGeom>
          <a:solidFill>
            <a:srgbClr val="0A0909"/>
          </a:solidFill>
          <a:ln>
            <a:solidFill>
              <a:srgbClr val="0A09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833795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Built for the Way You Live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2584133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XSplit combines personal finance discipline with the social reality of shared expenses — a tool designed for modern life, where money is always moving between people.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244709" y="3867983"/>
            <a:ext cx="3705344" cy="2007037"/>
          </a:xfrm>
          <a:prstGeom prst="roundRect">
            <a:avLst>
              <a:gd name="adj" fmla="val 4534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68904" y="4092178"/>
            <a:ext cx="2850713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🌙</a:t>
            </a: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Dark-First UI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68904" y="4601170"/>
            <a:ext cx="325695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Designed for comfort and clarity in any environment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0166628" y="3867983"/>
            <a:ext cx="3705463" cy="2007037"/>
          </a:xfrm>
          <a:prstGeom prst="roundRect">
            <a:avLst>
              <a:gd name="adj" fmla="val 4534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90823" y="4092178"/>
            <a:ext cx="3257074" cy="73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⚡</a:t>
            </a: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Real-Time Updates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390823" y="4957405"/>
            <a:ext cx="325707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Balances and settlements refresh instantly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44709" y="6091595"/>
            <a:ext cx="7627382" cy="1304092"/>
          </a:xfrm>
          <a:prstGeom prst="roundRect">
            <a:avLst>
              <a:gd name="adj" fmla="val 6978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68904" y="6315789"/>
            <a:ext cx="3324820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🔐</a:t>
            </a: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Secure by Design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468904" y="6824782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financial data stays private and protected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3233023"/>
            <a:ext cx="7868245" cy="983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Thank You</a:t>
            </a:r>
            <a:endParaRPr lang="en-US" sz="6150" dirty="0"/>
          </a:p>
        </p:txBody>
      </p:sp>
      <p:sp>
        <p:nvSpPr>
          <p:cNvPr id="3" name="Text 1"/>
          <p:cNvSpPr/>
          <p:nvPr/>
        </p:nvSpPr>
        <p:spPr>
          <a:xfrm>
            <a:off x="758309" y="4649867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C88906-98B3-A378-2696-9E036D937F7B}"/>
              </a:ext>
            </a:extLst>
          </p:cNvPr>
          <p:cNvSpPr/>
          <p:nvPr/>
        </p:nvSpPr>
        <p:spPr>
          <a:xfrm>
            <a:off x="12695555" y="7299960"/>
            <a:ext cx="1808480" cy="792480"/>
          </a:xfrm>
          <a:prstGeom prst="rect">
            <a:avLst/>
          </a:prstGeom>
          <a:solidFill>
            <a:srgbClr val="0A0909"/>
          </a:solidFill>
          <a:ln>
            <a:solidFill>
              <a:srgbClr val="0A09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403</Words>
  <Application>Microsoft Office PowerPoint</Application>
  <PresentationFormat>Custom</PresentationFormat>
  <Paragraphs>70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DM Sans</vt:lpstr>
      <vt:lpstr>Arial</vt:lpstr>
      <vt:lpstr>Dela Gothic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Dishanth D Poojary</dc:creator>
  <cp:lastModifiedBy>Dishanth D Poojary</cp:lastModifiedBy>
  <cp:revision>3</cp:revision>
  <dcterms:created xsi:type="dcterms:W3CDTF">2026-04-05T04:52:16Z</dcterms:created>
  <dcterms:modified xsi:type="dcterms:W3CDTF">2026-04-05T06:43:25Z</dcterms:modified>
</cp:coreProperties>
</file>